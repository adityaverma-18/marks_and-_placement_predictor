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315" r:id="rId5"/>
    <p:sldId id="314" r:id="rId6"/>
    <p:sldId id="327" r:id="rId7"/>
    <p:sldId id="330" r:id="rId8"/>
    <p:sldId id="326" r:id="rId9"/>
    <p:sldId id="316" r:id="rId10"/>
    <p:sldId id="328" r:id="rId11"/>
    <p:sldId id="33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782" y="685801"/>
            <a:ext cx="7187381" cy="1934832"/>
          </a:xfrm>
        </p:spPr>
        <p:txBody>
          <a:bodyPr>
            <a:noAutofit/>
          </a:bodyPr>
          <a:lstStyle/>
          <a:p>
            <a:pPr algn="ctr"/>
            <a:r>
              <a:rPr lang="en-US" sz="4800" b="1" u="sng" dirty="0">
                <a:solidFill>
                  <a:schemeClr val="bg2">
                    <a:lumMod val="25000"/>
                  </a:schemeClr>
                </a:solidFill>
                <a:latin typeface="Aptos Display" panose="020B0004020202020204" pitchFamily="34" charset="0"/>
              </a:rPr>
              <a:t>IBM-</a:t>
            </a:r>
            <a:r>
              <a:rPr lang="en-US" sz="4800" b="1" u="sng" dirty="0" err="1">
                <a:solidFill>
                  <a:schemeClr val="bg2">
                    <a:lumMod val="25000"/>
                  </a:schemeClr>
                </a:solidFill>
                <a:latin typeface="Aptos Display" panose="020B0004020202020204" pitchFamily="34" charset="0"/>
              </a:rPr>
              <a:t>nasscom</a:t>
            </a:r>
            <a:r>
              <a:rPr lang="en-US" sz="4800" b="1" u="sng" dirty="0">
                <a:solidFill>
                  <a:schemeClr val="bg2">
                    <a:lumMod val="25000"/>
                  </a:schemeClr>
                </a:solidFill>
                <a:latin typeface="Aptos Display" panose="020B0004020202020204" pitchFamily="34" charset="0"/>
              </a:rPr>
              <a:t> Virtual Internship Program</a:t>
            </a:r>
            <a:br>
              <a:rPr lang="en-US" sz="4000" b="1" u="sng" dirty="0">
                <a:solidFill>
                  <a:schemeClr val="bg2">
                    <a:lumMod val="25000"/>
                  </a:schemeClr>
                </a:solidFill>
                <a:latin typeface="Aptos Display" panose="020B0004020202020204" pitchFamily="34" charset="0"/>
              </a:rPr>
            </a:br>
            <a:endParaRPr lang="en-US" sz="4000" b="1" u="sng" dirty="0">
              <a:solidFill>
                <a:schemeClr val="bg2">
                  <a:lumMod val="2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4983" y="3135441"/>
            <a:ext cx="7796980" cy="3647365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Project Presentation</a:t>
            </a:r>
          </a:p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Marks And Placement Prediction Project</a:t>
            </a:r>
          </a:p>
          <a:p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By : Aditya</a:t>
            </a:r>
          </a:p>
          <a:p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Batch:4</a:t>
            </a:r>
          </a:p>
          <a:p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Ph:7048948429</a:t>
            </a:r>
          </a:p>
          <a:p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E-mail:adityakr182005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Kirsty" panose="020A0604040101080204" pitchFamily="18" charset="0"/>
                <a:cs typeface="Times New Roman" panose="02020603050405020304" pitchFamily="18" charset="0"/>
              </a:rPr>
              <a:t>@gmail.com</a:t>
            </a:r>
            <a:endParaRPr lang="en-US" sz="3200" b="1" dirty="0">
              <a:solidFill>
                <a:schemeClr val="bg2">
                  <a:lumMod val="50000"/>
                </a:schemeClr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D640A-E950-B05F-A6F6-8E775AC48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4" b="99844" l="1875" r="96719">
                        <a14:foregroundMark x1="10781" y1="40250" x2="10781" y2="40250"/>
                        <a14:foregroundMark x1="6563" y1="48518" x2="10156" y2="63183"/>
                        <a14:foregroundMark x1="6875" y1="40874" x2="6875" y2="40874"/>
                        <a14:foregroundMark x1="2188" y1="41654" x2="3125" y2="53198"/>
                        <a14:foregroundMark x1="28281" y1="91264" x2="52188" y2="95944"/>
                        <a14:foregroundMark x1="52188" y1="95944" x2="63750" y2="95008"/>
                        <a14:foregroundMark x1="63750" y1="95008" x2="67813" y2="92044"/>
                        <a14:foregroundMark x1="2188" y1="40250" x2="15937" y2="18409"/>
                        <a14:foregroundMark x1="15937" y1="18409" x2="30938" y2="8580"/>
                        <a14:foregroundMark x1="36250" y1="5148" x2="62344" y2="7332"/>
                        <a14:foregroundMark x1="82969" y1="30577" x2="91875" y2="52262"/>
                        <a14:foregroundMark x1="8750" y1="24337" x2="17656" y2="13573"/>
                        <a14:foregroundMark x1="17656" y1="13573" x2="31563" y2="4524"/>
                        <a14:foregroundMark x1="1875" y1="55694" x2="10313" y2="76755"/>
                        <a14:foregroundMark x1="10313" y1="76755" x2="18594" y2="87363"/>
                        <a14:foregroundMark x1="41094" y1="92044" x2="50781" y2="94228"/>
                        <a14:foregroundMark x1="35156" y1="65211" x2="64844" y2="83775"/>
                        <a14:foregroundMark x1="41875" y1="85959" x2="49063" y2="57878"/>
                        <a14:foregroundMark x1="49063" y1="57878" x2="47344" y2="58814"/>
                        <a14:foregroundMark x1="24844" y1="35725" x2="25781" y2="47270"/>
                        <a14:foregroundMark x1="25781" y1="47270" x2="57344" y2="40562"/>
                        <a14:foregroundMark x1="57344" y1="40562" x2="38125" y2="41654"/>
                        <a14:foregroundMark x1="38125" y1="41654" x2="77656" y2="43370"/>
                        <a14:foregroundMark x1="77656" y1="43370" x2="55781" y2="57566"/>
                        <a14:foregroundMark x1="55781" y1="57566" x2="65156" y2="59906"/>
                        <a14:foregroundMark x1="20000" y1="42746" x2="50625" y2="42434"/>
                        <a14:foregroundMark x1="50625" y1="42434" x2="30156" y2="44618"/>
                        <a14:foregroundMark x1="30156" y1="44618" x2="44844" y2="53822"/>
                        <a14:foregroundMark x1="44844" y1="53822" x2="58438" y2="55226"/>
                        <a14:foregroundMark x1="58438" y1="55226" x2="35156" y2="43838"/>
                        <a14:foregroundMark x1="35156" y1="43838" x2="52969" y2="48518"/>
                        <a14:foregroundMark x1="52969" y1="48518" x2="55937" y2="48362"/>
                        <a14:foregroundMark x1="44531" y1="34009" x2="33281" y2="36505"/>
                        <a14:foregroundMark x1="33281" y1="36505" x2="48125" y2="39002"/>
                        <a14:foregroundMark x1="48125" y1="39002" x2="37188" y2="43370"/>
                        <a14:foregroundMark x1="37188" y1="43370" x2="25781" y2="43526"/>
                        <a14:foregroundMark x1="25781" y1="43526" x2="55156" y2="45242"/>
                        <a14:foregroundMark x1="55156" y1="45242" x2="59531" y2="55382"/>
                        <a14:foregroundMark x1="59531" y1="55382" x2="76406" y2="52106"/>
                        <a14:foregroundMark x1="76406" y1="52106" x2="69063" y2="54602"/>
                        <a14:foregroundMark x1="65781" y1="41342" x2="83594" y2="47426"/>
                        <a14:foregroundMark x1="83594" y1="47426" x2="83750" y2="56786"/>
                        <a14:foregroundMark x1="83750" y1="56786" x2="71094" y2="53510"/>
                        <a14:foregroundMark x1="49063" y1="13261" x2="41719" y2="6708"/>
                        <a14:foregroundMark x1="41719" y1="6708" x2="48438" y2="13417"/>
                        <a14:foregroundMark x1="48438" y1="13417" x2="56094" y2="13573"/>
                        <a14:foregroundMark x1="17500" y1="52574" x2="9219" y2="45398"/>
                        <a14:foregroundMark x1="9219" y1="45398" x2="25938" y2="45086"/>
                        <a14:foregroundMark x1="25938" y1="45086" x2="32813" y2="53978"/>
                        <a14:foregroundMark x1="32813" y1="53978" x2="75938" y2="40250"/>
                        <a14:foregroundMark x1="75938" y1="40250" x2="60156" y2="48518"/>
                        <a14:foregroundMark x1="60156" y1="48518" x2="73438" y2="41966"/>
                        <a14:foregroundMark x1="73438" y1="41966" x2="82188" y2="45866"/>
                        <a14:foregroundMark x1="82188" y1="45866" x2="74688" y2="51950"/>
                        <a14:foregroundMark x1="43281" y1="99532" x2="53906" y2="99844"/>
                        <a14:foregroundMark x1="74063" y1="93292" x2="90313" y2="80811"/>
                        <a14:foregroundMark x1="90313" y1="80811" x2="98906" y2="60686"/>
                        <a14:foregroundMark x1="98906" y1="60686" x2="96563" y2="35257"/>
                        <a14:foregroundMark x1="96563" y1="35257" x2="82813" y2="16069"/>
                        <a14:foregroundMark x1="82813" y1="16069" x2="56563" y2="1248"/>
                        <a14:foregroundMark x1="56563" y1="1248" x2="46563" y2="780"/>
                        <a14:foregroundMark x1="46563" y1="780" x2="34688" y2="3588"/>
                        <a14:foregroundMark x1="95313" y1="42278" x2="96719" y2="51950"/>
                        <a14:foregroundMark x1="96719" y1="51950" x2="96719" y2="51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983" y="75194"/>
            <a:ext cx="2860963" cy="286543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25" y="2126460"/>
            <a:ext cx="4896678" cy="3624984"/>
          </a:xfrm>
        </p:spPr>
        <p:txBody>
          <a:bodyPr>
            <a:noAutofit/>
          </a:bodyPr>
          <a:lstStyle/>
          <a:p>
            <a:r>
              <a:rPr lang="en-US" sz="2800" dirty="0">
                <a:latin typeface="Kirsty" panose="020A0604040101080204" pitchFamily="18" charset="0"/>
              </a:rPr>
              <a:t>Problem Statement </a:t>
            </a:r>
            <a:br>
              <a:rPr lang="en-US" sz="2000" dirty="0"/>
            </a:br>
            <a:r>
              <a:rPr lang="en-US" sz="2000" dirty="0"/>
              <a:t>Educational institutions face challenges in predicting student performance and placement outcomes. Without a systematic model, it is difficult to identify at-risk students, provide targeted guidance, and allocate resources effectively. This project develops a </a:t>
            </a:r>
            <a:r>
              <a:rPr lang="en-US" sz="2000" b="1" dirty="0"/>
              <a:t>machine learning–based system</a:t>
            </a:r>
            <a:r>
              <a:rPr lang="en-US" sz="2000" dirty="0"/>
              <a:t> that uses academic indicators (e.g., CGPA, IQ, marks) to predict both student performance and placement likelihood. The goal is to support better decision-making, improve placement rates, and offer actionable insights for students and faculty.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EF9CD-FEB5-6BCE-110C-5F6603FE5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333" y="-140277"/>
            <a:ext cx="8094667" cy="73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75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8FADDC-F986-7351-5BD2-B2F2C16B8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3" y="-197694"/>
            <a:ext cx="12365182" cy="76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2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8BCCFB-7C19-6349-A781-56BB8CCDD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9382"/>
            <a:ext cx="12570049" cy="75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0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D9791D-A91C-E3EE-35D3-D1989F1E6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0164" y="-1"/>
            <a:ext cx="12739255" cy="748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67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F7B35F-4518-2DCF-795F-61D02BECF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64" y="-348095"/>
            <a:ext cx="11179752" cy="755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EA439F-996B-A5E0-B5F7-D15E91838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700" y="-393022"/>
            <a:ext cx="10821709" cy="789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0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9C9A-D3C2-34CD-6CCD-0F3E9569E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24788"/>
            <a:ext cx="5181600" cy="2376868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Kirsty" panose="020A0604040101080204" pitchFamily="18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8770B-738A-D34D-F0E9-9FE75E7CB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86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240</TotalTime>
  <Words>127</Words>
  <Application>Microsoft Office PowerPoint</Application>
  <PresentationFormat>Widescreen</PresentationFormat>
  <Paragraphs>14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Display</vt:lpstr>
      <vt:lpstr>Arial</vt:lpstr>
      <vt:lpstr>Bahnschrift SemiBold SemiConden</vt:lpstr>
      <vt:lpstr>Calibri</vt:lpstr>
      <vt:lpstr>Kirsty</vt:lpstr>
      <vt:lpstr>Tenorite</vt:lpstr>
      <vt:lpstr>Custom</vt:lpstr>
      <vt:lpstr>IBM-nasscom Virtual Internship Program </vt:lpstr>
      <vt:lpstr>Problem Statement  Educational institutions face challenges in predicting student performance and placement outcomes. Without a systematic model, it is difficult to identify at-risk students, provide targeted guidance, and allocate resources effectively. This project develops a machine learning–based system that uses academic indicators (e.g., CGPA, IQ, marks) to predict both student performance and placement likelihood. The goal is to support better decision-making, improve placement rates, and offer actionable insights for students and faculty.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Verma</dc:creator>
  <cp:lastModifiedBy>Aditya Verma</cp:lastModifiedBy>
  <cp:revision>7</cp:revision>
  <dcterms:created xsi:type="dcterms:W3CDTF">2025-11-27T09:45:51Z</dcterms:created>
  <dcterms:modified xsi:type="dcterms:W3CDTF">2026-07-16T22:30:07Z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